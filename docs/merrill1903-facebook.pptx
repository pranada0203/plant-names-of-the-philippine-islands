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1430000" cy="600075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1430000" cy="66675"/>
          </a:xfrm>
          <a:prstGeom prst="rect">
            <a:avLst/>
          </a:prstGeom>
          <a:solidFill>
            <a:srgbClr val="9B2D3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647700" y="590550"/>
            <a:ext cx="6096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938" spc="300" dirty="0">
                <a:solidFill>
                  <a:srgbClr val="D9A93C"/>
                </a:solidFill>
                <a:latin typeface="Segoe UI"/>
                <a:cs typeface="Segoe UI"/>
              </a:rPr>
              <a:t>A SEARCHABLE EDITION OF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47700" y="914400"/>
            <a:ext cx="6191250" cy="2000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lang="en-US" sz="3525" b="1" dirty="0">
                <a:solidFill>
                  <a:srgbClr val="F3EDE0"/>
                </a:solidFill>
                <a:latin typeface="Georgia"/>
                <a:cs typeface="Georgia"/>
              </a:rPr>
              <a:t>A Dictionary of the Plant Names of the Philippine Islands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47700" y="2857500"/>
            <a:ext cx="61912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spc="90" dirty="0">
                <a:solidFill>
                  <a:srgbClr val="F3EDE0"/>
                </a:solidFill>
                <a:latin typeface="Georgia"/>
                <a:cs typeface="Georgia"/>
              </a:rPr>
              <a:t>ABACÁ</a:t>
            </a:r>
            <a:r>
              <a:rPr lang="en-US" sz="1125" i="1" dirty="0">
                <a:solidFill>
                  <a:srgbClr val="8FB08B"/>
                </a:solidFill>
                <a:latin typeface="Georgia"/>
                <a:cs typeface="Georgia"/>
              </a:rPr>
              <a:t>   Musa textilis</a:t>
            </a:r>
          </a:p>
        </p:txBody>
      </p:sp>
      <p:sp>
        <p:nvSpPr>
          <p:cNvPr id="6" name="Shape 6"/>
          <p:cNvSpPr/>
          <p:nvPr/>
        </p:nvSpPr>
        <p:spPr>
          <a:xfrm>
            <a:off x="647700" y="3143250"/>
            <a:ext cx="1028700" cy="19050"/>
          </a:xfrm>
          <a:prstGeom prst="rect">
            <a:avLst/>
          </a:prstGeom>
          <a:solidFill>
            <a:srgbClr val="9B2D3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647700" y="3390900"/>
            <a:ext cx="6096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F3EDE0"/>
                </a:solidFill>
                <a:latin typeface="Georgia"/>
                <a:cs typeface="Georgia"/>
              </a:rPr>
              <a:t>Elmer D. Merrill, Botanist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47700" y="3714750"/>
            <a:ext cx="6096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63" spc="180" dirty="0">
                <a:solidFill>
                  <a:srgbClr val="A9B6CA"/>
                </a:solidFill>
                <a:latin typeface="Segoe UI"/>
                <a:cs typeface="Segoe UI"/>
              </a:rPr>
              <a:t>BUREAU OF GOVERNMENT LABORATORIES  ·  MANILA  ·  1903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47700" y="4305300"/>
            <a:ext cx="16192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F3EDE0"/>
                </a:solidFill>
                <a:latin typeface="Georgia"/>
                <a:cs typeface="Georgia"/>
              </a:rPr>
              <a:t>4,414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47700" y="4705350"/>
            <a:ext cx="16192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788" spc="160" dirty="0">
                <a:solidFill>
                  <a:srgbClr val="A9B6CA"/>
                </a:solidFill>
                <a:latin typeface="Segoe UI"/>
                <a:cs typeface="Segoe UI"/>
              </a:rPr>
              <a:t>NATIVE NAMES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2324100" y="4305300"/>
            <a:ext cx="16192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F3EDE0"/>
                </a:solidFill>
                <a:latin typeface="Georgia"/>
                <a:cs typeface="Georgia"/>
              </a:rPr>
              <a:t>1,666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2324100" y="4705350"/>
            <a:ext cx="16192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788" spc="160" dirty="0">
                <a:solidFill>
                  <a:srgbClr val="A9B6CA"/>
                </a:solidFill>
                <a:latin typeface="Segoe UI"/>
                <a:cs typeface="Segoe UI"/>
              </a:rPr>
              <a:t>PLANTS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000500" y="4305300"/>
            <a:ext cx="16192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F3EDE0"/>
                </a:solidFill>
                <a:latin typeface="Georgia"/>
                <a:cs typeface="Georgia"/>
              </a:rPr>
              <a:t>147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4000500" y="4705350"/>
            <a:ext cx="16192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788" spc="160" dirty="0">
                <a:solidFill>
                  <a:srgbClr val="A9B6CA"/>
                </a:solidFill>
                <a:latin typeface="Segoe UI"/>
                <a:cs typeface="Segoe UI"/>
              </a:rPr>
              <a:t>FAMILIES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47700" y="5219700"/>
            <a:ext cx="6096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938" dirty="0">
                <a:solidFill>
                  <a:srgbClr val="A9B6CA"/>
                </a:solidFill>
                <a:latin typeface="Segoe UI"/>
                <a:cs typeface="Segoe UI"/>
              </a:rPr>
              <a:t>Every entry shows the scanned line it was read from  ·  </a:t>
            </a:r>
            <a:r>
              <a:rPr lang="en-US" sz="938" b="1" dirty="0">
                <a:solidFill>
                  <a:srgbClr val="D9A93C"/>
                </a:solidFill>
                <a:latin typeface="Segoe UI"/>
                <a:cs typeface="Segoe UI"/>
              </a:rPr>
              <a:t>merrill1903.vercel.app</a:t>
            </a:r>
          </a:p>
        </p:txBody>
      </p:sp>
      <p:sp>
        <p:nvSpPr>
          <p:cNvPr id="16" name="Shape 16"/>
          <p:cNvSpPr/>
          <p:nvPr/>
        </p:nvSpPr>
        <p:spPr>
          <a:xfrm>
            <a:off x="7353300" y="514350"/>
            <a:ext cx="3543300" cy="4972050"/>
          </a:xfrm>
          <a:prstGeom prst="rect">
            <a:avLst/>
          </a:prstGeom>
          <a:noFill/>
          <a:ln w="15875">
            <a:solidFill>
              <a:srgbClr val="F3EDE0">
                <a:alpha val="38000"/>
              </a:srgbClr>
            </a:solidFill>
            <a:prstDash val="dash"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353300" y="2905125"/>
            <a:ext cx="35433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750" spc="140" dirty="0">
                <a:solidFill>
                  <a:srgbClr val="F3EDE0"/>
                </a:solidFill>
                <a:latin typeface="Segoe UI"/>
                <a:cs typeface="Segoe UI"/>
              </a:rPr>
              <a:t>PHONE MOCKUP — DELETE THIS GUIDE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errill">
  <a:themeElements>
    <a:clrScheme name="Merrill">
      <a:dk1>
        <a:srgbClr val="1F1D19"/>
      </a:dk1>
      <a:lt1>
        <a:srgbClr val="F6F1E6"/>
      </a:lt1>
      <a:dk2>
        <a:srgbClr val="24395C"/>
      </a:dk2>
      <a:lt2>
        <a:srgbClr val="F3EDE0"/>
      </a:lt2>
      <a:accent1>
        <a:srgbClr val="9B2D36"/>
      </a:accent1>
      <a:accent2>
        <a:srgbClr val="D9A93C"/>
      </a:accent2>
      <a:accent3>
        <a:srgbClr val="3D5A41"/>
      </a:accent3>
      <a:accent4>
        <a:srgbClr val="DBD0BB"/>
      </a:accent4>
      <a:accent5>
        <a:srgbClr val="A9B6CA"/>
      </a:accent5>
      <a:accent6>
        <a:srgbClr val="7A4E18"/>
      </a:accent6>
      <a:hlink>
        <a:srgbClr val="D9A93C"/>
      </a:hlink>
      <a:folHlink>
        <a:srgbClr val="A9B6CA"/>
      </a:folHlink>
    </a:clrScheme>
    <a:fontScheme name="Merrill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Merril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